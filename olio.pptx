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472" r:id="rId2"/>
    <p:sldId id="540" r:id="rId3"/>
    <p:sldId id="541" r:id="rId4"/>
    <p:sldId id="542" r:id="rId5"/>
    <p:sldId id="543" r:id="rId6"/>
    <p:sldId id="564" r:id="rId7"/>
    <p:sldId id="568" r:id="rId8"/>
    <p:sldId id="565" r:id="rId9"/>
    <p:sldId id="570" r:id="rId10"/>
    <p:sldId id="571" r:id="rId11"/>
    <p:sldId id="563" r:id="rId12"/>
    <p:sldId id="566" r:id="rId13"/>
    <p:sldId id="567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00FF"/>
    <a:srgbClr val="CC0099"/>
    <a:srgbClr val="E6FBA3"/>
    <a:srgbClr val="00C800"/>
    <a:srgbClr val="5D5DFF"/>
    <a:srgbClr val="FF6D4B"/>
    <a:srgbClr val="339933"/>
    <a:srgbClr val="0066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2941" autoAdjust="0"/>
  </p:normalViewPr>
  <p:slideViewPr>
    <p:cSldViewPr>
      <p:cViewPr varScale="1">
        <p:scale>
          <a:sx n="76" d="100"/>
          <a:sy n="76" d="100"/>
        </p:scale>
        <p:origin x="170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80"/>
    </p:cViewPr>
  </p:sorterViewPr>
  <p:notesViewPr>
    <p:cSldViewPr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A8F690-E180-4A7B-A134-FD49187985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2CD5E-93D1-4416-9AA1-7875B8BC57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25B0A-496B-491D-8D46-83D07DB76706}" type="datetimeFigureOut">
              <a:rPr lang="en-IN" smtClean="0"/>
              <a:pPr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66C01-C42D-45CD-AE02-3767942D59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FD583-FF11-49C0-9F21-BC4159A61A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98E0B-2DEF-4003-B160-97EE4BF4E6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438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54A3D5B-EC46-4E3B-93BF-B5DD3301E888}" type="datetimeFigureOut">
              <a:rPr lang="en-US"/>
              <a:pPr>
                <a:defRPr/>
              </a:pPr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4AA6F5C-325C-4772-BE35-040583EB3C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825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0FD3EC-5B82-486F-B28D-0553EAA0E2A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86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AA6F5C-325C-4772-BE35-040583EB3CB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85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13"/>
          <p:cNvSpPr>
            <a:spLocks noGrp="1"/>
          </p:cNvSpPr>
          <p:nvPr>
            <p:ph type="dt" sz="half" idx="2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E729395F-FD76-4624-885E-1010D5A6650E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155575"/>
            <a:ext cx="8534400" cy="7588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143000"/>
            <a:ext cx="850392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2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57E17D5B-D043-421D-82D7-E7DB1093DEDD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388100"/>
            <a:ext cx="923925" cy="309563"/>
          </a:xfrm>
          <a:prstGeom prst="rect">
            <a:avLst/>
          </a:prstGeom>
        </p:spPr>
        <p:txBody>
          <a:bodyPr vert="horz" anchor="t" anchorCtr="0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52400" y="152400"/>
            <a:ext cx="8839200" cy="6248400"/>
          </a:xfrm>
          <a:solidFill>
            <a:schemeClr val="bg1"/>
          </a:solidFill>
          <a:ln>
            <a:solidFill>
              <a:srgbClr val="0070C0"/>
            </a:solidFill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2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C073485C-AD4F-4FCC-B5F9-A1023C1C0AB5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388100"/>
            <a:ext cx="923925" cy="309563"/>
          </a:xfrm>
          <a:prstGeom prst="rect">
            <a:avLst/>
          </a:prstGeom>
        </p:spPr>
        <p:txBody>
          <a:bodyPr vert="horz" anchor="t" anchorCtr="0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527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3"/>
          <p:cNvSpPr>
            <a:spLocks noGrp="1"/>
          </p:cNvSpPr>
          <p:nvPr>
            <p:ph type="dt" sz="half" idx="2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6D50972F-D15E-472C-B5F2-7D51C756043A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388100"/>
            <a:ext cx="923925" cy="309563"/>
          </a:xfrm>
          <a:prstGeom prst="rect">
            <a:avLst/>
          </a:prstGeom>
        </p:spPr>
        <p:txBody>
          <a:bodyPr vert="horz" anchor="t" anchorCtr="0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2" name="Rectangle 1"/>
          <p:cNvSpPr/>
          <p:nvPr userDrawn="1"/>
        </p:nvSpPr>
        <p:spPr>
          <a:xfrm>
            <a:off x="152400" y="152400"/>
            <a:ext cx="8839200" cy="624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81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ctr" anchorCtr="0"/>
          <a:lstStyle>
            <a:lvl1pPr algn="ctr">
              <a:buNone/>
              <a:defRPr sz="42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Date Placeholder 13"/>
          <p:cNvSpPr>
            <a:spLocks noGrp="1"/>
          </p:cNvSpPr>
          <p:nvPr>
            <p:ph type="dt" sz="half" idx="2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2D2B731A-5510-451C-821D-7726C749142C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  <p:sp>
        <p:nvSpPr>
          <p:cNvPr id="20" name="Slide Number Placeholder 22"/>
          <p:cNvSpPr txBox="1">
            <a:spLocks/>
          </p:cNvSpPr>
          <p:nvPr userDrawn="1"/>
        </p:nvSpPr>
        <p:spPr>
          <a:xfrm>
            <a:off x="7924800" y="6388100"/>
            <a:ext cx="923925" cy="309563"/>
          </a:xfrm>
          <a:prstGeom prst="rect">
            <a:avLst/>
          </a:prstGeom>
        </p:spPr>
        <p:txBody>
          <a:bodyPr vert="horz" anchor="t" anchorCtr="0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0" lang="en-US" sz="1100" kern="1200">
                <a:solidFill>
                  <a:srgbClr val="FFFFFF"/>
                </a:solidFill>
                <a:latin typeface="+mj-lt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H="1">
            <a:off x="4562475" y="957263"/>
            <a:ext cx="9525" cy="54340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219200"/>
            <a:ext cx="4038600" cy="4953000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219200"/>
            <a:ext cx="4038600" cy="4953000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13"/>
          <p:cNvSpPr>
            <a:spLocks noGrp="1"/>
          </p:cNvSpPr>
          <p:nvPr>
            <p:ph type="dt" sz="half" idx="10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25B71698-0699-40F0-BCC0-22E7919BA29E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  <p:sp>
        <p:nvSpPr>
          <p:cNvPr id="1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388100"/>
            <a:ext cx="923925" cy="309563"/>
          </a:xfrm>
          <a:prstGeom prst="rect">
            <a:avLst/>
          </a:prstGeom>
        </p:spPr>
        <p:txBody>
          <a:bodyPr vert="horz" anchor="t" anchorCtr="0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957263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cxnSp>
        <p:nvCxnSpPr>
          <p:cNvPr id="14" name="Straight Connector 13"/>
          <p:cNvCxnSpPr>
            <a:endCxn id="13" idx="0"/>
          </p:cNvCxnSpPr>
          <p:nvPr userDrawn="1"/>
        </p:nvCxnSpPr>
        <p:spPr>
          <a:xfrm flipH="1">
            <a:off x="4562475" y="957263"/>
            <a:ext cx="9525" cy="54340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066802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066802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1981686"/>
            <a:ext cx="4041648" cy="43081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1981200"/>
            <a:ext cx="4038600" cy="431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13"/>
          <p:cNvSpPr>
            <a:spLocks noGrp="1"/>
          </p:cNvSpPr>
          <p:nvPr>
            <p:ph type="dt" sz="half" idx="10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8673181F-64BE-4BA1-8C37-80DD09FABF7B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  <p:sp>
        <p:nvSpPr>
          <p:cNvPr id="20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7924800" y="6388100"/>
            <a:ext cx="923925" cy="309563"/>
          </a:xfrm>
          <a:prstGeom prst="rect">
            <a:avLst/>
          </a:prstGeom>
        </p:spPr>
        <p:txBody>
          <a:bodyPr vert="horz" anchor="t" anchorCtr="0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2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828D8E76-DC38-49B7-83F1-A0AC16B9FF98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388100"/>
            <a:ext cx="923925" cy="309563"/>
          </a:xfrm>
          <a:prstGeom prst="rect">
            <a:avLst/>
          </a:prstGeom>
        </p:spPr>
        <p:txBody>
          <a:bodyPr vert="horz" anchor="t" anchorCtr="0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 userDrawn="1"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629400" y="6388101"/>
            <a:ext cx="1219200" cy="309562"/>
          </a:xfrm>
          <a:prstGeom prst="rect">
            <a:avLst/>
          </a:prstGeom>
        </p:spPr>
        <p:txBody>
          <a:bodyPr vert="horz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14546554-8827-4CE7-97D6-9DCBA2E8DF95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388101"/>
            <a:ext cx="6019800" cy="30956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Title of the Project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966788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388100"/>
            <a:ext cx="923925" cy="309563"/>
          </a:xfrm>
          <a:prstGeom prst="rect">
            <a:avLst/>
          </a:prstGeom>
        </p:spPr>
        <p:txBody>
          <a:bodyPr vert="horz" anchor="t" anchorCtr="0"/>
          <a:lstStyle>
            <a:lvl1pPr algn="r">
              <a:defRPr kumimoji="0" lang="en-US" sz="1100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5132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155575"/>
            <a:ext cx="8534400" cy="81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5133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143000"/>
            <a:ext cx="8534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63" r:id="rId3"/>
    <p:sldLayoutId id="2147484064" r:id="rId4"/>
    <p:sldLayoutId id="2147484059" r:id="rId5"/>
    <p:sldLayoutId id="2147484060" r:id="rId6"/>
    <p:sldLayoutId id="2147484061" r:id="rId7"/>
    <p:sldLayoutId id="2147484062" r:id="rId8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accent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mbr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8C438F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8C438F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8C438F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8C438F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SzPct val="8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458200" cy="2133600"/>
          </a:xfrm>
        </p:spPr>
        <p:txBody>
          <a:bodyPr anchor="t" anchorCtr="0">
            <a:normAutofit/>
          </a:bodyPr>
          <a:lstStyle/>
          <a:p>
            <a:r>
              <a:rPr lang="en-US" sz="3600" dirty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- A MERN STACK BASED FREE FOOD DONATOR APP</a:t>
            </a:r>
            <a:endParaRPr lang="en-US" sz="36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-228600" y="251460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23CSP501 Reverse Engineering Project – First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4" y="3561383"/>
            <a:ext cx="1990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Date:03.11.2025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56289"/>
              </p:ext>
            </p:extLst>
          </p:nvPr>
        </p:nvGraphicFramePr>
        <p:xfrm>
          <a:off x="337454" y="4572000"/>
          <a:ext cx="7968345" cy="150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8345">
                  <a:extLst>
                    <a:ext uri="{9D8B030D-6E8A-4147-A177-3AD203B41FA5}">
                      <a16:colId xmlns:a16="http://schemas.microsoft.com/office/drawing/2014/main" val="4253113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 By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0081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Sanjay S (727623BCS018)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4782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Susindran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N(727623BCS090)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3027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Mohamed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Thamemul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Ansahee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A(727624BCS312)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6342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C3C570-398F-1E8D-C470-E06E7178C94C}"/>
              </a:ext>
            </a:extLst>
          </p:cNvPr>
          <p:cNvSpPr txBox="1"/>
          <p:nvPr/>
        </p:nvSpPr>
        <p:spPr>
          <a:xfrm>
            <a:off x="337454" y="6430089"/>
            <a:ext cx="48374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BD25BC-7119-9DE6-46F4-086557A817CE}"/>
              </a:ext>
            </a:extLst>
          </p:cNvPr>
          <p:cNvSpPr txBox="1"/>
          <p:nvPr/>
        </p:nvSpPr>
        <p:spPr>
          <a:xfrm>
            <a:off x="8610600" y="6430088"/>
            <a:ext cx="53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FF82DD6-7A3E-442D-A941-145E9A842E6A}" type="slidenum">
              <a:rPr lang="en-IN" sz="1100" smtClean="0">
                <a:solidFill>
                  <a:schemeClr val="bg1"/>
                </a:solidFill>
                <a:latin typeface="+mj-lt"/>
              </a:rPr>
              <a:pPr/>
              <a:t>1</a:t>
            </a:fld>
            <a:endParaRPr lang="en-IN" sz="1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B2F03-97B2-559B-7974-D60B94CFDA22}"/>
              </a:ext>
            </a:extLst>
          </p:cNvPr>
          <p:cNvSpPr txBox="1"/>
          <p:nvPr/>
        </p:nvSpPr>
        <p:spPr>
          <a:xfrm>
            <a:off x="6856325" y="6430088"/>
            <a:ext cx="1905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chemeClr val="bg1"/>
                </a:solidFill>
                <a:latin typeface="+mj-lt"/>
              </a:rPr>
              <a:t>3-Nov-2025</a:t>
            </a:r>
          </a:p>
        </p:txBody>
      </p:sp>
    </p:spTree>
    <p:extLst>
      <p:ext uri="{BB962C8B-B14F-4D97-AF65-F5344CB8AC3E}">
        <p14:creationId xmlns:p14="http://schemas.microsoft.com/office/powerpoint/2010/main" val="98049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>
                <a:latin typeface="Bahnschrift" panose="020B0502040204020203" pitchFamily="34" charset="0"/>
              </a:rPr>
            </a:br>
            <a:r>
              <a:rPr lang="en-IN" dirty="0">
                <a:latin typeface="Bahnschrift" panose="020B0502040204020203" pitchFamily="34" charset="0"/>
              </a:rPr>
              <a:t>INTRODUCTION</a:t>
            </a:r>
            <a:br>
              <a:rPr lang="en-IN" dirty="0">
                <a:latin typeface="Bahnschrift" panose="020B0502040204020203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4825" y="1219200"/>
            <a:ext cx="7877175" cy="4876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replicate and enhance an existing community-based marketplace system (similar to Olio) in a modern and interactive mobile-first format.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such as item donors, receivers and administrators can access a unified app to share, request and manage items within their local community.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easy listing of items, location-based browsing, image upload, messaging between users and pickup coordination, thereby promoting reuse and reducing waste.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manage users, monitor listings and maintain content quality through secure role-based control panels.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supports secure authentication, real-time updates for listings and messages, and map-based discovery, providing a complete community exchange environment.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a modern MERN architecture (MongoDB, Express, React Native, Node.js) to ensure scalability, smooth user experience and cross-platform mobile support.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B8A3F3-16E6-4842-B0F1-AC7A100D8F2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E9C1E4-7F92-44EB-ADEE-630A9E2E5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2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FBF26-B80F-D07A-86BD-F49BC0080C37}"/>
              </a:ext>
            </a:extLst>
          </p:cNvPr>
          <p:cNvSpPr txBox="1"/>
          <p:nvPr/>
        </p:nvSpPr>
        <p:spPr>
          <a:xfrm>
            <a:off x="295275" y="645144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 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075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latin typeface="Bahnschrift" panose="020B0502040204020203" pitchFamily="34" charset="0"/>
              </a:rPr>
            </a:br>
            <a:r>
              <a:rPr lang="en-US" dirty="0">
                <a:latin typeface="Bahnschrift" panose="020B0502040204020203" pitchFamily="34" charset="0"/>
              </a:rPr>
              <a:t>E</a:t>
            </a:r>
            <a:r>
              <a:rPr lang="en-IN" dirty="0">
                <a:latin typeface="Bahnschrift" panose="020B0502040204020203" pitchFamily="34" charset="0"/>
              </a:rPr>
              <a:t>XISTING SYSTEM</a:t>
            </a:r>
            <a:br>
              <a:rPr lang="en-IN" dirty="0">
                <a:latin typeface="Bahnschrift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76225" y="926123"/>
            <a:ext cx="8572500" cy="51054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Olio-Simple is a community-sharing marketplace platform for exchanging unused items locally.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unified mobile interface for donors, receivers, and admins.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user registration, item posting with images, chat messaging, and map-based item discovery.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listing updates and location-based search for nearby items.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secure role-based login and JWT-based authentication for data privacy.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admin controls for user management, listing moderation, and viewing activity logs.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Flaws / Limitations: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features (messaging via REST polling instead of full WebSocket chat).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and CI/CD pipelines not fully integrated in the current version.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uploading uses local handling instead of cloud storage (AWS / Firebase)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modules need optimization for smoother UX and faster data rendering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setup steps; initial configuration may be challenging for beginners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3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9D3451-2B0B-AA5B-D26D-1241CD1D725B}"/>
              </a:ext>
            </a:extLst>
          </p:cNvPr>
          <p:cNvSpPr txBox="1"/>
          <p:nvPr/>
        </p:nvSpPr>
        <p:spPr>
          <a:xfrm>
            <a:off x="228601" y="641977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 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4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5575"/>
            <a:ext cx="8839199" cy="758825"/>
          </a:xfrm>
        </p:spPr>
        <p:txBody>
          <a:bodyPr/>
          <a:lstStyle/>
          <a:p>
            <a:br>
              <a:rPr lang="en-IN" dirty="0">
                <a:latin typeface="Bahnschrift" panose="020B0502040204020203" pitchFamily="34" charset="0"/>
              </a:rPr>
            </a:br>
            <a:r>
              <a:rPr lang="en-IN" dirty="0">
                <a:latin typeface="Bahnschrift" panose="020B0502040204020203" pitchFamily="34" charset="0"/>
              </a:rPr>
              <a:t>SOFTWARE, TOOLS AND TECHNIQUES</a:t>
            </a:r>
            <a:br>
              <a:rPr lang="en-IN" dirty="0">
                <a:latin typeface="Bahnschrift" panose="020B0502040204020203" pitchFamily="34" charset="0"/>
              </a:rPr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3-Nov-2025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504308-9C87-4942-A005-87594B668864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FACF3CA-7774-9CD6-D964-3C71847E1564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88741820"/>
              </p:ext>
            </p:extLst>
          </p:nvPr>
        </p:nvGraphicFramePr>
        <p:xfrm>
          <a:off x="1371600" y="1143001"/>
          <a:ext cx="6324601" cy="510539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48691">
                  <a:extLst>
                    <a:ext uri="{9D8B030D-6E8A-4147-A177-3AD203B41FA5}">
                      <a16:colId xmlns:a16="http://schemas.microsoft.com/office/drawing/2014/main" val="618576312"/>
                    </a:ext>
                  </a:extLst>
                </a:gridCol>
                <a:gridCol w="2187955">
                  <a:extLst>
                    <a:ext uri="{9D8B030D-6E8A-4147-A177-3AD203B41FA5}">
                      <a16:colId xmlns:a16="http://schemas.microsoft.com/office/drawing/2014/main" val="2700545986"/>
                    </a:ext>
                  </a:extLst>
                </a:gridCol>
                <a:gridCol w="2187955">
                  <a:extLst>
                    <a:ext uri="{9D8B030D-6E8A-4147-A177-3AD203B41FA5}">
                      <a16:colId xmlns:a16="http://schemas.microsoft.com/office/drawing/2014/main" val="2205411419"/>
                    </a:ext>
                  </a:extLst>
                </a:gridCol>
              </a:tblGrid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Category</a:t>
                      </a:r>
                      <a:endParaRPr lang="en-IN" sz="900" dirty="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Software / Tools</a:t>
                      </a:r>
                      <a:endParaRPr lang="en-IN" sz="90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Purpose</a:t>
                      </a:r>
                      <a:endParaRPr lang="en-IN" sz="900"/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697971254"/>
                  </a:ext>
                </a:extLst>
              </a:tr>
              <a:tr h="62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Frontend</a:t>
                      </a:r>
                      <a:endParaRPr lang="en-IN" sz="900" dirty="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React Native (Expo) with JavaScript (.jsx)</a:t>
                      </a:r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Provides a mobile-first interface for item posting, browsing, map view, chat and user dashboards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775576"/>
                  </a:ext>
                </a:extLst>
              </a:tr>
              <a:tr h="62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Backend</a:t>
                      </a:r>
                      <a:endParaRPr lang="en-IN" sz="900" dirty="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Node.js + Express.js</a:t>
                      </a:r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Handles APIs for listings, user profiles, chat messages and secure routing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3303900405"/>
                  </a:ext>
                </a:extLst>
              </a:tr>
              <a:tr h="481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Database</a:t>
                      </a:r>
                      <a:endParaRPr lang="en-IN" sz="900" dirty="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MongoDB + Mongoose</a:t>
                      </a:r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Stores user data, item listings, chat records, and location metadata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1716485899"/>
                  </a:ext>
                </a:extLst>
              </a:tr>
              <a:tr h="62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Authentication Layer</a:t>
                      </a:r>
                      <a:endParaRPr lang="en-IN" sz="900" dirty="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JWT (JSON Web Token) + </a:t>
                      </a:r>
                      <a:r>
                        <a:rPr lang="en-IN" sz="900" dirty="0" err="1"/>
                        <a:t>bcryptjs</a:t>
                      </a:r>
                      <a:endParaRPr lang="en-IN" sz="900" dirty="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Ensures secure login, role-based access control (Admin/User), and protects user data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4093832664"/>
                  </a:ext>
                </a:extLst>
              </a:tr>
              <a:tr h="481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Maps &amp; Location</a:t>
                      </a:r>
                      <a:endParaRPr lang="en-IN" sz="90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react-native-maps, expo-location</a:t>
                      </a:r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Displays nearby items and allows users to share pickup location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2050559587"/>
                  </a:ext>
                </a:extLst>
              </a:tr>
              <a:tr h="481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Image Handling</a:t>
                      </a:r>
                      <a:endParaRPr lang="en-IN" sz="90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Expo Image Picker / Multer (Node)</a:t>
                      </a:r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Allows users to upload item photos from camera or gallery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2720190122"/>
                  </a:ext>
                </a:extLst>
              </a:tr>
              <a:tr h="481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Development Tools</a:t>
                      </a:r>
                      <a:endParaRPr lang="en-IN" sz="90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VS Code, Postman/Thunder Client, </a:t>
                      </a:r>
                      <a:r>
                        <a:rPr lang="en-IN" sz="900" dirty="0" err="1"/>
                        <a:t>npm</a:t>
                      </a:r>
                      <a:r>
                        <a:rPr lang="en-IN" sz="900" dirty="0"/>
                        <a:t>, GitHub</a:t>
                      </a:r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Used for coding, testing APIs, debugging, and version control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1352580268"/>
                  </a:ext>
                </a:extLst>
              </a:tr>
              <a:tr h="481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Testing &amp; Preview</a:t>
                      </a:r>
                      <a:endParaRPr lang="en-IN" sz="90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Expo Go App / Android Studio / Xcode</a:t>
                      </a:r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Used to run and test the mobile app on real device/emulator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2727989565"/>
                  </a:ext>
                </a:extLst>
              </a:tr>
              <a:tr h="62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Platform / Deployment</a:t>
                      </a:r>
                      <a:endParaRPr lang="en-IN" sz="900"/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/>
                        <a:t>Localhost / MongoDB Atlas / Vercel / Render</a:t>
                      </a:r>
                    </a:p>
                  </a:txBody>
                  <a:tcPr marL="48164" marR="48164" marT="24082" marB="240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Provides development and cloud environment for backend + database hosting</a:t>
                      </a:r>
                    </a:p>
                  </a:txBody>
                  <a:tcPr marL="48164" marR="48164" marT="24082" marB="24082" anchor="ctr"/>
                </a:tc>
                <a:extLst>
                  <a:ext uri="{0D108BD9-81ED-4DB2-BD59-A6C34878D82A}">
                    <a16:rowId xmlns:a16="http://schemas.microsoft.com/office/drawing/2014/main" val="44080222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7ECF4F-FB44-1DB5-8F29-6FE2DF56A641}"/>
              </a:ext>
            </a:extLst>
          </p:cNvPr>
          <p:cNvSpPr txBox="1"/>
          <p:nvPr/>
        </p:nvSpPr>
        <p:spPr>
          <a:xfrm>
            <a:off x="295275" y="6419770"/>
            <a:ext cx="4672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 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19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33400" y="228601"/>
            <a:ext cx="10210800" cy="703406"/>
          </a:xfrm>
        </p:spPr>
        <p:txBody>
          <a:bodyPr/>
          <a:lstStyle/>
          <a:p>
            <a:br>
              <a:rPr lang="en-US" dirty="0">
                <a:latin typeface="Bahnschrift" panose="020B0502040204020203" pitchFamily="34" charset="0"/>
              </a:rPr>
            </a:br>
            <a:r>
              <a:rPr lang="en-US" sz="3600" dirty="0">
                <a:latin typeface="Bahnschrift" panose="020B0502040204020203" pitchFamily="34" charset="0"/>
              </a:rPr>
              <a:t>SYSTEM MODULES &amp; ITS IMPLEMENTATION</a:t>
            </a:r>
            <a:br>
              <a:rPr lang="en-IN" dirty="0">
                <a:latin typeface="Bahnschrift" panose="020B0502040204020203" pitchFamily="34" charset="0"/>
              </a:rPr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3-Nov-2025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504308-9C87-4942-A005-87594B66886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" name="Content Placeholder 9" descr="A diagram of a food donation application&#10;&#10;AI-generated content may be incorrect.">
            <a:extLst>
              <a:ext uri="{FF2B5EF4-FFF2-40B4-BE49-F238E27FC236}">
                <a16:creationId xmlns:a16="http://schemas.microsoft.com/office/drawing/2014/main" id="{E0E623F5-AC7E-05AF-517A-6F4C5ABBEB0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" r="1135"/>
          <a:stretch>
            <a:fillRect/>
          </a:stretch>
        </p:blipFill>
        <p:spPr>
          <a:xfrm>
            <a:off x="1257719" y="1154239"/>
            <a:ext cx="6553200" cy="5011629"/>
          </a:xfrm>
        </p:spPr>
      </p:pic>
    </p:spTree>
    <p:extLst>
      <p:ext uri="{BB962C8B-B14F-4D97-AF65-F5344CB8AC3E}">
        <p14:creationId xmlns:p14="http://schemas.microsoft.com/office/powerpoint/2010/main" val="58198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80C5-D061-21A7-DD15-E55ACD43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B6F7-03FC-85A3-F8F6-BC2069E8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687"/>
            <a:ext cx="9144000" cy="1139825"/>
          </a:xfrm>
        </p:spPr>
        <p:txBody>
          <a:bodyPr/>
          <a:lstStyle/>
          <a:p>
            <a:br>
              <a:rPr lang="en-US" sz="3600" dirty="0">
                <a:latin typeface="Bahnschrift" panose="020B0502040204020203" pitchFamily="34" charset="0"/>
              </a:rPr>
            </a:br>
            <a:r>
              <a:rPr lang="en-US" sz="3100" dirty="0">
                <a:latin typeface="Bahnschrift" panose="020B0502040204020203" pitchFamily="34" charset="0"/>
              </a:rPr>
              <a:t>OUTPUT SCREENSHOTS OF THE IMPLEMENTATION</a:t>
            </a:r>
            <a:br>
              <a:rPr lang="en-IN" sz="3100" dirty="0">
                <a:latin typeface="Bahnschrift" panose="020B0502040204020203" pitchFamily="34" charset="0"/>
              </a:rPr>
            </a:br>
            <a:br>
              <a:rPr lang="en-IN" sz="3100" dirty="0">
                <a:latin typeface="Bahnschrift" panose="020B0502040204020203" pitchFamily="34" charset="0"/>
              </a:rPr>
            </a:br>
            <a:endParaRPr lang="en-IN" sz="3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B0B2D-5295-13BF-8BE0-E36703C9C95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9F47A-671A-1EF8-68B5-97F135DD7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BB201-4032-17C1-CF0A-76D63B82C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6</a:t>
            </a:fld>
            <a:endParaRPr lang="en-IN" dirty="0"/>
          </a:p>
        </p:txBody>
      </p:sp>
      <p:pic>
        <p:nvPicPr>
          <p:cNvPr id="13" name="Content Placeholder 12" descr="A yellow square with white text&#10;&#10;AI-generated content may be incorrect.">
            <a:extLst>
              <a:ext uri="{FF2B5EF4-FFF2-40B4-BE49-F238E27FC236}">
                <a16:creationId xmlns:a16="http://schemas.microsoft.com/office/drawing/2014/main" id="{F825CDF6-D21B-C8B9-E8B2-37849951450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0"/>
          <a:stretch>
            <a:fillRect/>
          </a:stretch>
        </p:blipFill>
        <p:spPr>
          <a:xfrm>
            <a:off x="558200" y="1480110"/>
            <a:ext cx="1857375" cy="3881083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769466-8983-1FEB-F49F-5C8F0B3F55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1"/>
          <a:stretch>
            <a:fillRect/>
          </a:stretch>
        </p:blipFill>
        <p:spPr>
          <a:xfrm>
            <a:off x="2417933" y="1487646"/>
            <a:ext cx="1857375" cy="38818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93E0D3A-046C-6954-DF46-A06039C70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6324600" y="1488457"/>
            <a:ext cx="1849223" cy="3881086"/>
          </a:xfrm>
          <a:prstGeom prst="rect">
            <a:avLst/>
          </a:prstGeom>
        </p:spPr>
      </p:pic>
      <p:pic>
        <p:nvPicPr>
          <p:cNvPr id="21" name="Picture 20" descr="A screenshot of a phone&#10;&#10;AI-generated content may be incorrect.">
            <a:extLst>
              <a:ext uri="{FF2B5EF4-FFF2-40B4-BE49-F238E27FC236}">
                <a16:creationId xmlns:a16="http://schemas.microsoft.com/office/drawing/2014/main" id="{24B326FA-D859-1258-C6D3-7EBB515156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4280024" y="1488457"/>
            <a:ext cx="1849222" cy="388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6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FFB75-806B-FF1B-D11E-CAF226CC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ACAA-4A48-1DF5-1EED-D1F406B6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687"/>
            <a:ext cx="9144000" cy="1139825"/>
          </a:xfrm>
        </p:spPr>
        <p:txBody>
          <a:bodyPr/>
          <a:lstStyle/>
          <a:p>
            <a:br>
              <a:rPr lang="en-US" sz="3600" dirty="0">
                <a:latin typeface="Bahnschrift" panose="020B0502040204020203" pitchFamily="34" charset="0"/>
              </a:rPr>
            </a:br>
            <a:r>
              <a:rPr lang="en-US" sz="3100" dirty="0">
                <a:latin typeface="Bahnschrift" panose="020B0502040204020203" pitchFamily="34" charset="0"/>
              </a:rPr>
              <a:t>OUTPUT SCREENSHOTS OF THE IMPLEMENTATION</a:t>
            </a:r>
            <a:br>
              <a:rPr lang="en-IN" sz="3100" dirty="0">
                <a:latin typeface="Bahnschrift" panose="020B0502040204020203" pitchFamily="34" charset="0"/>
              </a:rPr>
            </a:br>
            <a:br>
              <a:rPr lang="en-IN" sz="3100" dirty="0">
                <a:latin typeface="Bahnschrift" panose="020B0502040204020203" pitchFamily="34" charset="0"/>
              </a:rPr>
            </a:br>
            <a:endParaRPr lang="en-IN" sz="3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9528A-45E9-0C83-B946-E2C7DE97A63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44BF3-A7AA-4734-46A5-0B885EE3B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08A87-FA41-665D-D393-4DF2ACE7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7</a:t>
            </a:fld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416000-1735-4823-97C0-5C59F574DF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 b="70000"/>
          <a:stretch>
            <a:fillRect/>
          </a:stretch>
        </p:blipFill>
        <p:spPr>
          <a:xfrm>
            <a:off x="636171" y="1644763"/>
            <a:ext cx="2209800" cy="1200385"/>
          </a:xfrm>
          <a:prstGeom prst="rect">
            <a:avLst/>
          </a:prstGeom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A132DB42-00F1-6EAE-4F9C-795A88957C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2"/>
          <a:stretch>
            <a:fillRect/>
          </a:stretch>
        </p:blipFill>
        <p:spPr>
          <a:xfrm>
            <a:off x="636171" y="2743200"/>
            <a:ext cx="1805742" cy="3121035"/>
          </a:xfrm>
          <a:prstGeom prst="rect">
            <a:avLst/>
          </a:prstGeom>
        </p:spPr>
      </p:pic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0863E402-4C13-DD75-564D-D2EEF1B918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2"/>
          <a:stretch>
            <a:fillRect/>
          </a:stretch>
        </p:blipFill>
        <p:spPr>
          <a:xfrm>
            <a:off x="2441913" y="1638901"/>
            <a:ext cx="2037215" cy="4225334"/>
          </a:xfrm>
          <a:prstGeom prst="rect">
            <a:avLst/>
          </a:prstGeom>
        </p:spPr>
      </p:pic>
      <p:pic>
        <p:nvPicPr>
          <p:cNvPr id="21" name="Picture 20" descr="A screenshot of a food&#10;&#10;AI-generated content may be incorrect.">
            <a:extLst>
              <a:ext uri="{FF2B5EF4-FFF2-40B4-BE49-F238E27FC236}">
                <a16:creationId xmlns:a16="http://schemas.microsoft.com/office/drawing/2014/main" id="{E7C95FE5-6BD1-F84A-7771-4E3403F313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>
            <a:fillRect/>
          </a:stretch>
        </p:blipFill>
        <p:spPr>
          <a:xfrm>
            <a:off x="4490851" y="1638902"/>
            <a:ext cx="1989837" cy="42253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5693FBF-6B26-3247-5AF2-EFC5423F84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>
            <a:fillRect/>
          </a:stretch>
        </p:blipFill>
        <p:spPr>
          <a:xfrm>
            <a:off x="6504620" y="1636713"/>
            <a:ext cx="1989837" cy="422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6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2E04-CA60-7A15-6239-D20E2D4B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3F29-D6B6-FFB0-EBB6-65536B88D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337"/>
            <a:ext cx="9144000" cy="1139825"/>
          </a:xfrm>
        </p:spPr>
        <p:txBody>
          <a:bodyPr/>
          <a:lstStyle/>
          <a:p>
            <a:br>
              <a:rPr lang="en-US" sz="3600" dirty="0">
                <a:latin typeface="Bahnschrift" panose="020B0502040204020203" pitchFamily="34" charset="0"/>
              </a:rPr>
            </a:br>
            <a:r>
              <a:rPr lang="en-US" sz="3100" dirty="0">
                <a:latin typeface="Bahnschrift" panose="020B0502040204020203" pitchFamily="34" charset="0"/>
              </a:rPr>
              <a:t>OUTPUT SCREENSHOTS OF THE IMPLEMENTATION</a:t>
            </a:r>
            <a:br>
              <a:rPr lang="en-IN" sz="3100" dirty="0">
                <a:latin typeface="Bahnschrift" panose="020B0502040204020203" pitchFamily="34" charset="0"/>
              </a:rPr>
            </a:br>
            <a:br>
              <a:rPr lang="en-IN" sz="3100" dirty="0">
                <a:latin typeface="Bahnschrift" panose="020B0502040204020203" pitchFamily="34" charset="0"/>
              </a:rPr>
            </a:br>
            <a:endParaRPr lang="en-IN" sz="3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E7A34-4398-13B0-B569-67546733000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4D1D6-4B55-9B78-F13A-CE4ED91FD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3303C-1CF0-CB48-5BDA-1DAC38B2C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8</a:t>
            </a:fld>
            <a:endParaRPr lang="en-IN" dirty="0"/>
          </a:p>
        </p:txBody>
      </p:sp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1F71A4DB-88FE-8EB9-0FDD-C4C6DA567F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500874" y="1619859"/>
            <a:ext cx="1956799" cy="4106863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AE0FC6FF-D218-F0A2-4AC1-C559A84721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2457672" y="1652952"/>
            <a:ext cx="1941031" cy="4073769"/>
          </a:xfrm>
          <a:prstGeom prst="rect">
            <a:avLst/>
          </a:prstGeom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A557AD56-AF59-A74F-ED7D-A42B1FAB23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4398703" y="1652951"/>
            <a:ext cx="1956799" cy="41068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DF79B8-273C-9704-E5F9-9068069064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6479594" y="1652951"/>
            <a:ext cx="2008061" cy="42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34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2BFB-0780-E68F-EA0A-EB4B9D6E8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59FA-68F0-060D-91C5-DD2CA23F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337"/>
            <a:ext cx="9144000" cy="1139825"/>
          </a:xfrm>
        </p:spPr>
        <p:txBody>
          <a:bodyPr/>
          <a:lstStyle/>
          <a:p>
            <a:br>
              <a:rPr lang="en-US" sz="3600" dirty="0">
                <a:latin typeface="Bahnschrift" panose="020B0502040204020203" pitchFamily="34" charset="0"/>
              </a:rPr>
            </a:br>
            <a:r>
              <a:rPr lang="en-US" sz="3100" dirty="0">
                <a:latin typeface="Bahnschrift" panose="020B0502040204020203" pitchFamily="34" charset="0"/>
              </a:rPr>
              <a:t>OUTPUT SCREENSHOTS OF THE IMPLEMENTATION</a:t>
            </a:r>
            <a:br>
              <a:rPr lang="en-IN" sz="3100" dirty="0">
                <a:latin typeface="Bahnschrift" panose="020B0502040204020203" pitchFamily="34" charset="0"/>
              </a:rPr>
            </a:br>
            <a:br>
              <a:rPr lang="en-IN" sz="3100" dirty="0">
                <a:latin typeface="Bahnschrift" panose="020B0502040204020203" pitchFamily="34" charset="0"/>
              </a:rPr>
            </a:br>
            <a:endParaRPr lang="en-IN" sz="3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96463-EA35-BD9E-D5F0-E994EA1090E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80618-25C3-47BB-E212-63A66249B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51BA-20E0-BDEA-93CD-5F5B0688D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9</a:t>
            </a:fld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530CBB-3D83-98A7-6AE3-0BCC1F9296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497334" y="1547447"/>
            <a:ext cx="1949409" cy="40913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12C869-640C-D39F-6D45-68C995959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2467259" y="1547447"/>
            <a:ext cx="1949410" cy="40913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D70427-06EA-E115-A8B0-F2506F8345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4416669" y="1604659"/>
            <a:ext cx="1922151" cy="40341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E7CBC8-213A-25B8-1636-B9308DAAE2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6366081" y="1604659"/>
            <a:ext cx="1922149" cy="403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6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D10C-D515-9DB3-1C4B-DE85ACCA4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2188" y="154475"/>
            <a:ext cx="10591800" cy="682625"/>
          </a:xfrm>
        </p:spPr>
        <p:txBody>
          <a:bodyPr/>
          <a:lstStyle/>
          <a:p>
            <a:r>
              <a:rPr lang="en-US" sz="3100" dirty="0">
                <a:latin typeface="Bahnschrift" panose="020B0502040204020203" pitchFamily="34" charset="0"/>
              </a:rPr>
              <a:t>OUTPUT SCREENSHOT AND ITS IMPLEMENTATION</a:t>
            </a:r>
            <a:endParaRPr lang="en-IN" sz="3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FCE75-65E5-E098-066E-751A5C6BD3C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57E17D5B-D043-421D-82D7-E7DB1093DEDD}" type="datetime5">
              <a:rPr lang="en-US" smtClean="0"/>
              <a:pPr>
                <a:defRPr/>
              </a:pPr>
              <a:t>2-Nov-25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4FD0B-CAB3-2EBF-9CA9-60905A8A8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10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FCE87C-6025-4D6A-BE32-0A7E57B9C5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533401" y="1524000"/>
            <a:ext cx="1905000" cy="39981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66E3F5-9CA4-CFB3-9476-C65FE13A82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84" b="2222"/>
          <a:stretch>
            <a:fillRect/>
          </a:stretch>
        </p:blipFill>
        <p:spPr>
          <a:xfrm>
            <a:off x="2438401" y="2206625"/>
            <a:ext cx="1699420" cy="3315524"/>
          </a:xfrm>
          <a:prstGeom prst="rect">
            <a:avLst/>
          </a:prstGeom>
        </p:spPr>
      </p:pic>
      <p:pic>
        <p:nvPicPr>
          <p:cNvPr id="12" name="Picture 11" descr="A screenshot of a food&#10;&#10;AI-generated content may be incorrect.">
            <a:extLst>
              <a:ext uri="{FF2B5EF4-FFF2-40B4-BE49-F238E27FC236}">
                <a16:creationId xmlns:a16="http://schemas.microsoft.com/office/drawing/2014/main" id="{417CC94B-BAC0-9F69-BD05-1797E569AC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0" b="79100"/>
          <a:stretch>
            <a:fillRect/>
          </a:stretch>
        </p:blipFill>
        <p:spPr>
          <a:xfrm>
            <a:off x="2438401" y="1588048"/>
            <a:ext cx="1684898" cy="545552"/>
          </a:xfrm>
          <a:prstGeom prst="rect">
            <a:avLst/>
          </a:prstGeom>
        </p:spPr>
      </p:pic>
      <p:pic>
        <p:nvPicPr>
          <p:cNvPr id="14" name="Picture 13" descr="A screenshot of a chat&#10;&#10;AI-generated content may be incorrect.">
            <a:extLst>
              <a:ext uri="{FF2B5EF4-FFF2-40B4-BE49-F238E27FC236}">
                <a16:creationId xmlns:a16="http://schemas.microsoft.com/office/drawing/2014/main" id="{5EAF01A3-3243-780F-5B15-B856D2BAD1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0" b="100"/>
          <a:stretch>
            <a:fillRect/>
          </a:stretch>
        </p:blipFill>
        <p:spPr>
          <a:xfrm>
            <a:off x="4137820" y="1593910"/>
            <a:ext cx="1881157" cy="39282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BE3DF8-392D-4F65-91AC-9A5C18F20C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6"/>
          <a:stretch>
            <a:fillRect/>
          </a:stretch>
        </p:blipFill>
        <p:spPr>
          <a:xfrm>
            <a:off x="6028299" y="1590979"/>
            <a:ext cx="1881157" cy="3930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1ABA2D-FA54-CC96-618E-CBF609264514}"/>
              </a:ext>
            </a:extLst>
          </p:cNvPr>
          <p:cNvSpPr txBox="1"/>
          <p:nvPr/>
        </p:nvSpPr>
        <p:spPr>
          <a:xfrm>
            <a:off x="295275" y="6419770"/>
            <a:ext cx="5295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541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9646-8DE2-E101-4133-17CEF41D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382"/>
            <a:ext cx="9144000" cy="1139825"/>
          </a:xfrm>
        </p:spPr>
        <p:txBody>
          <a:bodyPr/>
          <a:lstStyle/>
          <a:p>
            <a:br>
              <a:rPr lang="en-US" sz="3600" dirty="0">
                <a:latin typeface="Bahnschrift" panose="020B0502040204020203" pitchFamily="34" charset="0"/>
              </a:rPr>
            </a:br>
            <a:br>
              <a:rPr lang="en-US" sz="3600" dirty="0">
                <a:latin typeface="Bahnschrift" panose="020B0502040204020203" pitchFamily="34" charset="0"/>
              </a:rPr>
            </a:br>
            <a:r>
              <a:rPr lang="en-US" dirty="0">
                <a:latin typeface="Bahnschrift" panose="020B0502040204020203" pitchFamily="34" charset="0"/>
              </a:rPr>
              <a:t>RESULTS AND DISCUSSION</a:t>
            </a:r>
            <a:br>
              <a:rPr lang="en-IN" sz="3200" dirty="0">
                <a:latin typeface="Bahnschrift" panose="020B0502040204020203" pitchFamily="34" charset="0"/>
              </a:rPr>
            </a:br>
            <a:br>
              <a:rPr lang="en-IN" sz="3100" dirty="0">
                <a:latin typeface="Bahnschrift" panose="020B0502040204020203" pitchFamily="34" charset="0"/>
              </a:rPr>
            </a:br>
            <a:br>
              <a:rPr lang="en-IN" sz="3100" dirty="0">
                <a:latin typeface="Bahnschrift" panose="020B0502040204020203" pitchFamily="34" charset="0"/>
              </a:rPr>
            </a:br>
            <a:endParaRPr lang="en-IN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1727C-1508-8C05-FED0-27363A2269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35077" y="914400"/>
            <a:ext cx="8613648" cy="4876800"/>
          </a:xfrm>
        </p:spPr>
        <p:txBody>
          <a:bodyPr/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efficiently digitizes and streamlines food-sharing and waste-reduction processes through a unified digital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platform.Performance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optimized using asynchronous Node.js operations, ensuring fast and reliable data communication between donors, receivers, volunteers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administrators.Real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-time updates enable instant synchronization of food listings, pickup requests, chat communication and admin monitoring dashboards.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enable instant synchronization of food listings, pickup requests, chat communication and admin monitoring dashboards.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interface is designed to be highly interactive, responsive and intuitive, allowing users to quickly add food items, request items, chat, and track pickup status with ease.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is simplified using MongoDB’s flexible schema, enabling efficient storage and retrieval of user profiles, listings, requests, chat logs and location-based data.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demonstrates the modern transformation of community-based food sharing into a scalable MERN application, enhancing sustainability, promoting zero-waste culture and improving community engagement through technology.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1CF06-0222-883C-07F7-81D8B9B7E61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791A4-C7C0-84B6-9A10-11EEBBDFE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11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B9F5E0-52C6-1AC7-4063-7B3062D1C230}"/>
              </a:ext>
            </a:extLst>
          </p:cNvPr>
          <p:cNvSpPr txBox="1"/>
          <p:nvPr/>
        </p:nvSpPr>
        <p:spPr>
          <a:xfrm>
            <a:off x="292763" y="641711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APP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095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D76B-A25C-ABE2-BE09-4DE09354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6539-6D01-D99D-B935-F0EE3A65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60337"/>
            <a:ext cx="9144000" cy="1139825"/>
          </a:xfrm>
        </p:spPr>
        <p:txBody>
          <a:bodyPr/>
          <a:lstStyle/>
          <a:p>
            <a:br>
              <a:rPr lang="en-US" sz="3600" dirty="0">
                <a:latin typeface="Bahnschrift" panose="020B0502040204020203" pitchFamily="34" charset="0"/>
              </a:rPr>
            </a:br>
            <a:r>
              <a:rPr lang="en-US" dirty="0">
                <a:latin typeface="Bahnschrift" panose="020B0502040204020203" pitchFamily="34" charset="0"/>
              </a:rPr>
              <a:t>CONCLUSION</a:t>
            </a:r>
            <a:br>
              <a:rPr lang="en-IN" sz="3100" dirty="0">
                <a:latin typeface="Bahnschrift" panose="020B0502040204020203" pitchFamily="34" charset="0"/>
              </a:rPr>
            </a:br>
            <a:br>
              <a:rPr lang="en-IN" sz="3100" dirty="0">
                <a:latin typeface="Bahnschrift" panose="020B0502040204020203" pitchFamily="34" charset="0"/>
              </a:rPr>
            </a:br>
            <a:endParaRPr lang="en-IN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20EA7-D3E6-6524-4B65-A1F2BE7B60B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98513" y="1752600"/>
            <a:ext cx="8546973" cy="3733800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food-sharing system delivers a complete, intuitive and efficient digital platform that encourages community-driven food redistribution and waste reduction.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a responsive frontend, real-time backend processing and secure database management to provide a seamless user experience for donors, receivers, volunteers and administrators.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React, Node.js and MongoDB, the system ensures high scalability, strong performance and compliance with modern web application standards.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upgrades can include AI-based food expiry prediction, geo-tracking for delivery agents, reward-based sustainability programs, integration with NGOs and government food banks, and cloud-based analytics for large-scale hunger-reduction insights.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74824-2F27-0F13-0000-30E5D5F98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8A76-B6D6-166A-8462-54927A66F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FF82DD6-7A3E-442D-A941-145E9A842E6A}" type="slidenum">
              <a:rPr lang="en-IN" smtClean="0"/>
              <a:pPr>
                <a:defRPr/>
              </a:pPr>
              <a:t>12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049A2-BBD4-46B4-3372-E376CE0D0ABC}"/>
              </a:ext>
            </a:extLst>
          </p:cNvPr>
          <p:cNvSpPr txBox="1"/>
          <p:nvPr/>
        </p:nvSpPr>
        <p:spPr>
          <a:xfrm>
            <a:off x="295275" y="641977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07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1598D2-1566-5F3E-4F81-F5F70DF83C5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3-Nov-2025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56A4F-F587-F8EB-C56C-9629302C1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OLIO – A MERN STACK BASED FREE FOOD DONATOR 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B8814-44A0-6CA7-9FB6-74AF83FB7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6756F-761E-0775-4F09-2B2C793EB030}"/>
              </a:ext>
            </a:extLst>
          </p:cNvPr>
          <p:cNvSpPr txBox="1"/>
          <p:nvPr/>
        </p:nvSpPr>
        <p:spPr>
          <a:xfrm>
            <a:off x="2438400" y="242026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6"/>
                </a:solidFill>
              </a:rPr>
              <a:t>  THANK YOU</a:t>
            </a:r>
          </a:p>
        </p:txBody>
      </p:sp>
    </p:spTree>
    <p:extLst>
      <p:ext uri="{BB962C8B-B14F-4D97-AF65-F5344CB8AC3E}">
        <p14:creationId xmlns:p14="http://schemas.microsoft.com/office/powerpoint/2010/main" val="35362272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ustom 1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14170</TotalTime>
  <Words>1058</Words>
  <Application>Microsoft Office PowerPoint</Application>
  <PresentationFormat>On-screen Show (4:3)</PresentationFormat>
  <Paragraphs>119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Bahnschrift</vt:lpstr>
      <vt:lpstr>Calibri</vt:lpstr>
      <vt:lpstr>Cambria</vt:lpstr>
      <vt:lpstr>Georgia</vt:lpstr>
      <vt:lpstr>Times New Roman</vt:lpstr>
      <vt:lpstr>Wingdings</vt:lpstr>
      <vt:lpstr>Wingdings 2</vt:lpstr>
      <vt:lpstr>Civic</vt:lpstr>
      <vt:lpstr>OLIO - A MERN STACK BASED FREE FOOD DONATOR APP</vt:lpstr>
      <vt:lpstr> INTRODUCTION </vt:lpstr>
      <vt:lpstr> EXISTING SYSTEM </vt:lpstr>
      <vt:lpstr> SOFTWARE, TOOLS AND TECHNIQUES </vt:lpstr>
      <vt:lpstr> SYSTEM MODULES &amp; ITS IMPLEMENTATION </vt:lpstr>
      <vt:lpstr> OUTPUT SCREENSHOTS OF THE IMPLEMENTATION  </vt:lpstr>
      <vt:lpstr> OUTPUT SCREENSHOTS OF THE IMPLEMENTATION  </vt:lpstr>
      <vt:lpstr> OUTPUT SCREENSHOTS OF THE IMPLEMENTATION  </vt:lpstr>
      <vt:lpstr> OUTPUT SCREENSHOTS OF THE IMPLEMENTATION  </vt:lpstr>
      <vt:lpstr>OUTPUT SCREENSHOT AND ITS IMPLEMENTATION</vt:lpstr>
      <vt:lpstr>  RESULTS AND DISCUSSION   </vt:lpstr>
      <vt:lpstr> CONCLUSION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shivanjali</dc:creator>
  <cp:lastModifiedBy>PRANNAV S B</cp:lastModifiedBy>
  <cp:revision>835</cp:revision>
  <dcterms:created xsi:type="dcterms:W3CDTF">2006-08-16T00:00:00Z</dcterms:created>
  <dcterms:modified xsi:type="dcterms:W3CDTF">2025-11-02T16:55:36Z</dcterms:modified>
</cp:coreProperties>
</file>